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76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69430"/>
            <a:ext cx="10566400" cy="417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1F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76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69430"/>
            <a:ext cx="10566400" cy="417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1F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082129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3CD7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MEDICAL AI · CHEST X-RAY RESEARCH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534220"/>
            <a:ext cx="6671310" cy="253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CD7C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Explainable COVID-19 Detection</a:t>
            </a:r>
            <a:r>
              <a:rPr lang="en-US" sz="3600" b="1" i="0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from Chest X-Ray Images Using Deep Learning and Transfer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251871"/>
            <a:ext cx="10160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4505871"/>
            <a:ext cx="66713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B1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Transfer Learning • Explainable AI • Uncertainty Estimation • Robustness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242471"/>
            <a:ext cx="66713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D6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Tanvi Patil (PRN 23070521161)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D6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Deveshree Ghaiwat (PRN 24070521510)</a:t>
            </a:r>
            <a:endParaRPr lang="en-US" sz="1400" dirty="0"/>
          </a:p>
        </p:txBody>
      </p:sp>
      <p:pic>
        <p:nvPicPr>
          <p:cNvPr id="7" name="Image 0" descr="Illustrative thoracic region of interest on a chest X-ray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7569200" y="1587500"/>
            <a:ext cx="3810000" cy="2336800"/>
          </a:xfrm>
          <a:prstGeom prst="roundRect">
            <a:avLst>
              <a:gd name="adj" fmla="val 4348"/>
            </a:avLst>
          </a:prstGeom>
        </p:spPr>
      </p:pic>
      <p:sp>
        <p:nvSpPr>
          <p:cNvPr id="8" name="Text 5"/>
          <p:cNvSpPr/>
          <p:nvPr/>
        </p:nvSpPr>
        <p:spPr>
          <a:xfrm>
            <a:off x="7512050" y="40132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9FB3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ILLUSTRATIVE · THORACIC ROI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accuracy alone is not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3386634" cy="2005211"/>
          </a:xfrm>
          <a:prstGeom prst="roundRect">
            <a:avLst>
              <a:gd name="adj" fmla="val 6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3386634" cy="2005211"/>
          </a:xfrm>
          <a:custGeom>
            <a:avLst/>
            <a:gdLst/>
            <a:ahLst/>
            <a:cxnLst/>
            <a:rect l="l" t="t" r="r" b="b"/>
            <a:pathLst>
              <a:path w="3386634" h="20052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Overlapping signs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20590"/>
            <a:ext cx="3069641" cy="1225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Bilateral, peripheral opacities appear in COVID-19 and in other viral or bacterial pneumonias. Early disease can be subtle, so reading the image is hard even for experts.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818630"/>
            <a:ext cx="3386683" cy="2005211"/>
          </a:xfrm>
          <a:prstGeom prst="roundRect">
            <a:avLst>
              <a:gd name="adj" fmla="val 633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34" y="1818630"/>
            <a:ext cx="3386683" cy="2005211"/>
          </a:xfrm>
          <a:custGeom>
            <a:avLst/>
            <a:gdLst/>
            <a:ahLst/>
            <a:cxnLst/>
            <a:rect l="l" t="t" r="r" b="b"/>
            <a:pathLst>
              <a:path w="3386683" h="20052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83" y="0"/>
                </a:lnTo>
                <a:arcTo hR="127000" wR="127000" stAng="16200000" swAng="5400000"/>
                <a:lnTo>
                  <a:pt x="3386683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7B4FD0"/>
          </a:solidFill>
          <a:ln/>
        </p:spPr>
      </p:sp>
      <p:sp>
        <p:nvSpPr>
          <p:cNvPr id="10" name="Text 8"/>
          <p:cNvSpPr/>
          <p:nvPr/>
        </p:nvSpPr>
        <p:spPr>
          <a:xfrm>
            <a:off x="4605834" y="2085330"/>
            <a:ext cx="30696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Shortcut learning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5834" y="2420590"/>
            <a:ext cx="3069692" cy="1225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Independent audits found models that still scored well with the lungs masked out. They had learned borders, markers or source differences, not pathology.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17" y="1818630"/>
            <a:ext cx="3386683" cy="2005211"/>
          </a:xfrm>
          <a:prstGeom prst="roundRect">
            <a:avLst>
              <a:gd name="adj" fmla="val 633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517" y="1818630"/>
            <a:ext cx="3386683" cy="2005211"/>
          </a:xfrm>
          <a:custGeom>
            <a:avLst/>
            <a:gdLst/>
            <a:ahLst/>
            <a:cxnLst/>
            <a:rect l="l" t="t" r="r" b="b"/>
            <a:pathLst>
              <a:path w="3386683" h="20052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83" y="0"/>
                </a:lnTo>
                <a:arcTo hR="127000" wR="127000" stAng="16200000" swAng="5400000"/>
                <a:lnTo>
                  <a:pt x="3386683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E0962B"/>
          </a:solidFill>
          <a:ln/>
        </p:spPr>
      </p:sp>
      <p:sp>
        <p:nvSpPr>
          <p:cNvPr id="14" name="Text 12"/>
          <p:cNvSpPr/>
          <p:nvPr/>
        </p:nvSpPr>
        <p:spPr>
          <a:xfrm>
            <a:off x="8195717" y="2085330"/>
            <a:ext cx="30696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Over-confidence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95717" y="2420590"/>
            <a:ext cx="3069692" cy="1225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Fine-tuned networks often report probabilities above their real accuracy. A confident wrong answer is more harmful than an admitted doubt.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07784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C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Goal: study accuracy together with explainability, calibration and robustness in one reproducible protocol.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Research problem and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4978400" cy="1550938"/>
          </a:xfrm>
          <a:prstGeom prst="roundRect">
            <a:avLst>
              <a:gd name="adj" fmla="val 818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4978400" cy="1550938"/>
          </a:xfrm>
          <a:custGeom>
            <a:avLst/>
            <a:gdLst/>
            <a:ahLst/>
            <a:cxnLst/>
            <a:rect l="l" t="t" r="r" b="b"/>
            <a:pathLst>
              <a:path w="4978400" h="1550938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4851400" y="0"/>
                </a:lnTo>
                <a:arcTo hR="127000" wR="127000" stAng="16200000" swAng="5400000"/>
                <a:lnTo>
                  <a:pt x="49784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C2335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470916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Research problem</a:t>
            </a:r>
            <a:endParaRPr lang="en-US" sz="1684" dirty="0"/>
          </a:p>
        </p:txBody>
      </p:sp>
      <p:sp>
        <p:nvSpPr>
          <p:cNvPr id="7" name="Text 5"/>
          <p:cNvSpPr/>
          <p:nvPr/>
        </p:nvSpPr>
        <p:spPr>
          <a:xfrm>
            <a:off x="1016000" y="2414141"/>
            <a:ext cx="4709160" cy="7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63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Chest X-ray classifiers can learn misleading image patterns, produce poorly calibrated confidence scores and offer little transparency.</a:t>
            </a:r>
            <a:endParaRPr lang="en-US" sz="1463" dirty="0"/>
          </a:p>
        </p:txBody>
      </p:sp>
      <p:sp>
        <p:nvSpPr>
          <p:cNvPr id="8" name="Shape 6"/>
          <p:cNvSpPr/>
          <p:nvPr/>
        </p:nvSpPr>
        <p:spPr>
          <a:xfrm>
            <a:off x="812800" y="3521968"/>
            <a:ext cx="4978400" cy="1550938"/>
          </a:xfrm>
          <a:prstGeom prst="roundRect">
            <a:avLst>
              <a:gd name="adj" fmla="val 818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3521968"/>
            <a:ext cx="4978400" cy="1550938"/>
          </a:xfrm>
          <a:custGeom>
            <a:avLst/>
            <a:gdLst/>
            <a:ahLst/>
            <a:cxnLst/>
            <a:rect l="l" t="t" r="r" b="b"/>
            <a:pathLst>
              <a:path w="4978400" h="1550938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4851400" y="0"/>
                </a:lnTo>
                <a:arcTo hR="127000" wR="127000" stAng="16200000" swAng="5400000"/>
                <a:lnTo>
                  <a:pt x="49784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788668"/>
            <a:ext cx="470916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Scope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16000" y="4123928"/>
            <a:ext cx="470916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classes: COVID-19, Normal and non-COVID Pneumonia. Pneumonia is kept separate because the real difficulty is telling COVID-19 from other pneumonias.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94400" y="1818630"/>
            <a:ext cx="5384800" cy="3254276"/>
          </a:xfrm>
          <a:prstGeom prst="roundRect">
            <a:avLst>
              <a:gd name="adj" fmla="val 3903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94400" y="1818630"/>
            <a:ext cx="5384800" cy="3254276"/>
          </a:xfrm>
          <a:custGeom>
            <a:avLst/>
            <a:gdLst/>
            <a:ahLst/>
            <a:cxnLst/>
            <a:rect l="l" t="t" r="r" b="b"/>
            <a:pathLst>
              <a:path w="5384800" h="3254276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257800" y="0"/>
                </a:lnTo>
                <a:arcTo hR="127000" wR="127000" stAng="16200000" swAng="5400000"/>
                <a:lnTo>
                  <a:pt x="53848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197600" y="2085330"/>
            <a:ext cx="512775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Objectives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56020" y="2433290"/>
            <a:ext cx="5062474" cy="202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 a three-class chest X-ray classifier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DenseNet121, EfficientNet-B3 and ResNet50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Visualise model attention with Grad-CAM and Integrated Gradients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Evaluate confidence calibration and robustness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“uncertain” instead of guessing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Package an interactive research demo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Four questions, one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2489200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2489200" cy="1696541"/>
          </a:xfrm>
          <a:custGeom>
            <a:avLst/>
            <a:gdLst/>
            <a:ahLst/>
            <a:cxnLst/>
            <a:rect l="l" t="t" r="r" b="b"/>
            <a:pathLst>
              <a:path w="2489200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Accuracy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20590"/>
            <a:ext cx="2145284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it classify reliably? Measured by macro-F1, per-class recall, ROC-AUC and COVID-19 sensitivity.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5200" y="1818630"/>
            <a:ext cx="2489200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05200" y="1818630"/>
            <a:ext cx="2489200" cy="1696541"/>
          </a:xfrm>
          <a:custGeom>
            <a:avLst/>
            <a:gdLst/>
            <a:ahLst/>
            <a:cxnLst/>
            <a:rect l="l" t="t" r="r" b="b"/>
            <a:pathLst>
              <a:path w="2489200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7B4FD0"/>
          </a:solidFill>
          <a:ln/>
        </p:spPr>
      </p:sp>
      <p:sp>
        <p:nvSpPr>
          <p:cNvPr id="10" name="Text 8"/>
          <p:cNvSpPr/>
          <p:nvPr/>
        </p:nvSpPr>
        <p:spPr>
          <a:xfrm>
            <a:off x="37084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Explainability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8400" y="2420590"/>
            <a:ext cx="2145284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does it look? Grad-CAM and Integrated Gradients, checked by sanity tests.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7600" y="1818630"/>
            <a:ext cx="2489200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7600" y="1818630"/>
            <a:ext cx="2489200" cy="1696541"/>
          </a:xfrm>
          <a:custGeom>
            <a:avLst/>
            <a:gdLst/>
            <a:ahLst/>
            <a:cxnLst/>
            <a:rect l="l" t="t" r="r" b="b"/>
            <a:pathLst>
              <a:path w="2489200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0E9C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Calibration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420590"/>
            <a:ext cx="214528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its confidence be trusted? ECE, Brier score and temperature scaling.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90000" y="1818630"/>
            <a:ext cx="2489200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90000" y="1818630"/>
            <a:ext cx="2489200" cy="1696541"/>
          </a:xfrm>
          <a:custGeom>
            <a:avLst/>
            <a:gdLst/>
            <a:ahLst/>
            <a:cxnLst/>
            <a:rect l="l" t="t" r="r" b="b"/>
            <a:pathLst>
              <a:path w="2489200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E0962B"/>
          </a:solidFill>
          <a:ln/>
        </p:spPr>
      </p:sp>
      <p:sp>
        <p:nvSpPr>
          <p:cNvPr id="18" name="Text 16"/>
          <p:cNvSpPr/>
          <p:nvPr/>
        </p:nvSpPr>
        <p:spPr>
          <a:xfrm>
            <a:off x="90932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Robustness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93200" y="2420590"/>
            <a:ext cx="2145284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it stable under perturbations? Noise, blur, JPEG, lung masking and cross-source tests.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76917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E7C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question gets its own metrics, so a strong score on one cannot hide a weakness on another.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Leakage-aware data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6187430" cy="1070521"/>
          </a:xfrm>
          <a:prstGeom prst="roundRect">
            <a:avLst>
              <a:gd name="adj" fmla="val 1067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6187430" cy="1070521"/>
          </a:xfrm>
          <a:custGeom>
            <a:avLst/>
            <a:gdLst/>
            <a:ahLst/>
            <a:cxnLst/>
            <a:rect l="l" t="t" r="r" b="b"/>
            <a:pathLst>
              <a:path w="6187430" h="1070521">
                <a:moveTo>
                  <a:pt x="114300" y="1070521"/>
                </a:moveTo>
                <a:lnTo>
                  <a:pt x="114300" y="1070521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lnTo>
                  <a:pt x="114300" y="0"/>
                </a:lnTo>
                <a:arcTo hR="114300" wR="50800" stAng="16200000" swAng="-5400000"/>
                <a:lnTo>
                  <a:pt x="63500" y="956221"/>
                </a:lnTo>
                <a:arcTo hR="114300" wR="50800" stAng="108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983730"/>
            <a:ext cx="588905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 Verify annotations and quality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278360"/>
            <a:ext cx="588905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labels against source metadata; remove corrupt, blank or non-frontal images.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3016151"/>
            <a:ext cx="6187430" cy="847675"/>
          </a:xfrm>
          <a:prstGeom prst="roundRect">
            <a:avLst>
              <a:gd name="adj" fmla="val 13484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3016151"/>
            <a:ext cx="6187430" cy="847675"/>
          </a:xfrm>
          <a:custGeom>
            <a:avLst/>
            <a:gdLst/>
            <a:ahLst/>
            <a:cxnLst/>
            <a:rect l="l" t="t" r="r" b="b"/>
            <a:pathLst>
              <a:path w="6187430" h="847675">
                <a:moveTo>
                  <a:pt x="114300" y="847675"/>
                </a:moveTo>
                <a:lnTo>
                  <a:pt x="114300" y="847675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lnTo>
                  <a:pt x="114300" y="0"/>
                </a:lnTo>
                <a:arcTo hR="114300" wR="50800" stAng="16200000" swAng="-5400000"/>
                <a:lnTo>
                  <a:pt x="63500" y="733375"/>
                </a:lnTo>
                <a:arcTo hR="114300" wR="50800" stAng="10800000" swAng="-5400000"/>
                <a:close/>
              </a:path>
            </a:pathLst>
          </a:custGeom>
          <a:solidFill>
            <a:srgbClr val="7B4FD0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3181251"/>
            <a:ext cx="588905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 Find duplicates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3475881"/>
            <a:ext cx="592073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Exact and perceptual hashes catch copies; each cluster stays in a single split.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990826"/>
            <a:ext cx="6187430" cy="1070521"/>
          </a:xfrm>
          <a:prstGeom prst="roundRect">
            <a:avLst>
              <a:gd name="adj" fmla="val 1067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990826"/>
            <a:ext cx="6187430" cy="1070521"/>
          </a:xfrm>
          <a:custGeom>
            <a:avLst/>
            <a:gdLst/>
            <a:ahLst/>
            <a:cxnLst/>
            <a:rect l="l" t="t" r="r" b="b"/>
            <a:pathLst>
              <a:path w="6187430" h="1070521">
                <a:moveTo>
                  <a:pt x="114300" y="1070521"/>
                </a:moveTo>
                <a:lnTo>
                  <a:pt x="114300" y="1070521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lnTo>
                  <a:pt x="114300" y="0"/>
                </a:lnTo>
                <a:arcTo hR="114300" wR="50800" stAng="16200000" swAng="-5400000"/>
                <a:lnTo>
                  <a:pt x="63500" y="956221"/>
                </a:lnTo>
                <a:arcTo hR="114300" wR="50800" stAng="10800000" swAng="-5400000"/>
                <a:close/>
              </a:path>
            </a:pathLst>
          </a:custGeom>
          <a:solidFill>
            <a:srgbClr val="0E9C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4155926"/>
            <a:ext cx="588905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 Split by patient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4450556"/>
            <a:ext cx="588905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Patient-level where IDs permit; stratified ~70 / 15 / 15 with a fixed seed. Test set used once.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54230" y="1818630"/>
            <a:ext cx="3556000" cy="295275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/>
        </p:spPr>
      </p:sp>
      <p:pic>
        <p:nvPicPr>
          <p:cNvPr id="17" name="Image 0" descr="Diagram of the leakage-aware data split">    </p:cNvPr>
          <p:cNvPicPr>
            <a:picLocks noChangeAspect="1"/>
          </p:cNvPicPr>
          <p:nvPr/>
        </p:nvPicPr>
        <p:blipFill>
          <a:blip r:embed="rId1"/>
          <a:srcRect l="-14" r="-14" t="0" b="0"/>
          <a:stretch/>
        </p:blipFill>
        <p:spPr>
          <a:xfrm>
            <a:off x="7254230" y="1818630"/>
            <a:ext cx="3556000" cy="2952750"/>
          </a:xfrm>
          <a:prstGeom prst="roundRect">
            <a:avLst>
              <a:gd name="adj" fmla="val 3441"/>
            </a:avLst>
          </a:prstGeom>
        </p:spPr>
      </p:pic>
      <p:sp>
        <p:nvSpPr>
          <p:cNvPr id="18" name="Text 15"/>
          <p:cNvSpPr/>
          <p:nvPr/>
        </p:nvSpPr>
        <p:spPr>
          <a:xfrm>
            <a:off x="7192356" y="4847580"/>
            <a:ext cx="42487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Duplicate clusters and patient groups are never divided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Nine-step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3420517" cy="690811"/>
          </a:xfrm>
          <a:prstGeom prst="roundRect">
            <a:avLst>
              <a:gd name="adj" fmla="val 1286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3420517" cy="690811"/>
          </a:xfrm>
          <a:custGeom>
            <a:avLst/>
            <a:gdLst/>
            <a:ahLst/>
            <a:cxnLst/>
            <a:rect l="l" t="t" r="r" b="b"/>
            <a:pathLst>
              <a:path w="3420517" h="690811">
                <a:moveTo>
                  <a:pt x="88900" y="690811"/>
                </a:moveTo>
                <a:lnTo>
                  <a:pt x="88900" y="69081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601911"/>
                </a:lnTo>
                <a:arcTo hR="88900" wR="12700" stAng="108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959570"/>
            <a:ext cx="19387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3B6F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773" y="1945630"/>
            <a:ext cx="1858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acquisition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773" y="2184350"/>
            <a:ext cx="21649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chest X-ray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17" y="1818630"/>
            <a:ext cx="3420517" cy="690811"/>
          </a:xfrm>
          <a:prstGeom prst="roundRect">
            <a:avLst>
              <a:gd name="adj" fmla="val 1286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717" y="1818630"/>
            <a:ext cx="3420517" cy="690811"/>
          </a:xfrm>
          <a:custGeom>
            <a:avLst/>
            <a:gdLst/>
            <a:ahLst/>
            <a:cxnLst/>
            <a:rect l="l" t="t" r="r" b="b"/>
            <a:pathLst>
              <a:path w="3420517" h="690811">
                <a:moveTo>
                  <a:pt x="88900" y="690811"/>
                </a:moveTo>
                <a:lnTo>
                  <a:pt x="88900" y="69081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601911"/>
                </a:lnTo>
                <a:arcTo hR="88900" wR="12700" stAng="108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11" name="Text 9"/>
          <p:cNvSpPr/>
          <p:nvPr/>
        </p:nvSpPr>
        <p:spPr>
          <a:xfrm>
            <a:off x="4614317" y="1959570"/>
            <a:ext cx="23380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3B6F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911626" y="1945630"/>
            <a:ext cx="2323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Annotation verification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1626" y="2184350"/>
            <a:ext cx="19941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Label consistency checks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8634" y="1818630"/>
            <a:ext cx="3420566" cy="690811"/>
          </a:xfrm>
          <a:prstGeom prst="roundRect">
            <a:avLst>
              <a:gd name="adj" fmla="val 1286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34" y="1818630"/>
            <a:ext cx="3420566" cy="690811"/>
          </a:xfrm>
          <a:custGeom>
            <a:avLst/>
            <a:gdLst/>
            <a:ahLst/>
            <a:cxnLst/>
            <a:rect l="l" t="t" r="r" b="b"/>
            <a:pathLst>
              <a:path w="3420566" h="690811">
                <a:moveTo>
                  <a:pt x="88900" y="690811"/>
                </a:moveTo>
                <a:lnTo>
                  <a:pt x="88900" y="69081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601911"/>
                </a:lnTo>
                <a:arcTo hR="88900" wR="12700" stAng="108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16" name="Text 14"/>
          <p:cNvSpPr/>
          <p:nvPr/>
        </p:nvSpPr>
        <p:spPr>
          <a:xfrm>
            <a:off x="8187234" y="1959570"/>
            <a:ext cx="23326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3B6FD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483997" y="1945630"/>
            <a:ext cx="2895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 and duplicate checks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3997" y="2184350"/>
            <a:ext cx="25240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Hashes, blank and corrupt images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2661841"/>
            <a:ext cx="3420517" cy="904131"/>
          </a:xfrm>
          <a:prstGeom prst="roundRect">
            <a:avLst>
              <a:gd name="adj" fmla="val 983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800" y="2661841"/>
            <a:ext cx="3420517" cy="904131"/>
          </a:xfrm>
          <a:custGeom>
            <a:avLst/>
            <a:gdLst/>
            <a:ahLst/>
            <a:cxnLst/>
            <a:rect l="l" t="t" r="r" b="b"/>
            <a:pathLst>
              <a:path w="3420517" h="904131">
                <a:moveTo>
                  <a:pt x="88900" y="904131"/>
                </a:moveTo>
                <a:lnTo>
                  <a:pt x="88900" y="90413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815231"/>
                </a:lnTo>
                <a:arcTo hR="88900" wR="12700" stAng="10800000" swAng="-5400000"/>
                <a:close/>
              </a:path>
            </a:pathLst>
          </a:custGeom>
          <a:solidFill>
            <a:srgbClr val="7B4FD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2909441"/>
            <a:ext cx="23544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7B4FD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340346" y="2788841"/>
            <a:ext cx="28227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Preprocessing and augmentation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0346" y="3240881"/>
            <a:ext cx="28227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300 × 300, mild augmentation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5717" y="2661841"/>
            <a:ext cx="3420517" cy="904131"/>
          </a:xfrm>
          <a:prstGeom prst="roundRect">
            <a:avLst>
              <a:gd name="adj" fmla="val 983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5717" y="2661841"/>
            <a:ext cx="3420517" cy="904131"/>
          </a:xfrm>
          <a:custGeom>
            <a:avLst/>
            <a:gdLst/>
            <a:ahLst/>
            <a:cxnLst/>
            <a:rect l="l" t="t" r="r" b="b"/>
            <a:pathLst>
              <a:path w="3420517" h="904131">
                <a:moveTo>
                  <a:pt x="88900" y="904131"/>
                </a:moveTo>
                <a:lnTo>
                  <a:pt x="88900" y="90413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815231"/>
                </a:lnTo>
                <a:arcTo hR="88900" wR="12700" stAng="10800000" swAng="-5400000"/>
                <a:close/>
              </a:path>
            </a:pathLst>
          </a:custGeom>
          <a:solidFill>
            <a:srgbClr val="7B4FD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4317" y="2909441"/>
            <a:ext cx="22582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7B4FD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903639" y="2895501"/>
            <a:ext cx="1806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Patient-level split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03639" y="3134221"/>
            <a:ext cx="21041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patient across subsets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8634" y="2661841"/>
            <a:ext cx="3420566" cy="904131"/>
          </a:xfrm>
          <a:prstGeom prst="roundRect">
            <a:avLst>
              <a:gd name="adj" fmla="val 9833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8634" y="2661841"/>
            <a:ext cx="3420566" cy="904131"/>
          </a:xfrm>
          <a:custGeom>
            <a:avLst/>
            <a:gdLst/>
            <a:ahLst/>
            <a:cxnLst/>
            <a:rect l="l" t="t" r="r" b="b"/>
            <a:pathLst>
              <a:path w="3420566" h="904131">
                <a:moveTo>
                  <a:pt x="88900" y="904131"/>
                </a:moveTo>
                <a:lnTo>
                  <a:pt x="88900" y="90413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815231"/>
                </a:lnTo>
                <a:arcTo hR="88900" wR="12700" stAng="10800000" swAng="-5400000"/>
                <a:close/>
              </a:path>
            </a:pathLst>
          </a:custGeom>
          <a:solidFill>
            <a:srgbClr val="0E9C8A"/>
          </a:solidFill>
          <a:ln/>
        </p:spPr>
      </p:sp>
      <p:sp>
        <p:nvSpPr>
          <p:cNvPr id="31" name="Text 29"/>
          <p:cNvSpPr/>
          <p:nvPr/>
        </p:nvSpPr>
        <p:spPr>
          <a:xfrm>
            <a:off x="8187234" y="2909441"/>
            <a:ext cx="24010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0E9C8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490843" y="2895501"/>
            <a:ext cx="196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90843" y="3134221"/>
            <a:ext cx="228742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pretrained backbones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800" y="3718371"/>
            <a:ext cx="3420517" cy="690811"/>
          </a:xfrm>
          <a:prstGeom prst="roundRect">
            <a:avLst>
              <a:gd name="adj" fmla="val 12869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800" y="3718371"/>
            <a:ext cx="3420517" cy="690811"/>
          </a:xfrm>
          <a:custGeom>
            <a:avLst/>
            <a:gdLst/>
            <a:ahLst/>
            <a:cxnLst/>
            <a:rect l="l" t="t" r="r" b="b"/>
            <a:pathLst>
              <a:path w="3420517" h="690811">
                <a:moveTo>
                  <a:pt x="88900" y="690811"/>
                </a:moveTo>
                <a:lnTo>
                  <a:pt x="88900" y="69081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601911"/>
                </a:lnTo>
                <a:arcTo hR="88900" wR="12700" stAng="10800000" swAng="-5400000"/>
                <a:close/>
              </a:path>
            </a:pathLst>
          </a:custGeom>
          <a:solidFill>
            <a:srgbClr val="E0962B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400" y="3859312"/>
            <a:ext cx="21272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E096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1317625" y="3845371"/>
            <a:ext cx="2291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17625" y="4084092"/>
            <a:ext cx="26699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Accuracy, calibration, robustness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5717" y="3718371"/>
            <a:ext cx="3420517" cy="690811"/>
          </a:xfrm>
          <a:prstGeom prst="roundRect">
            <a:avLst>
              <a:gd name="adj" fmla="val 12869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385717" y="3718371"/>
            <a:ext cx="3420517" cy="690811"/>
          </a:xfrm>
          <a:custGeom>
            <a:avLst/>
            <a:gdLst/>
            <a:ahLst/>
            <a:cxnLst/>
            <a:rect l="l" t="t" r="r" b="b"/>
            <a:pathLst>
              <a:path w="3420517" h="690811">
                <a:moveTo>
                  <a:pt x="88900" y="690811"/>
                </a:moveTo>
                <a:lnTo>
                  <a:pt x="88900" y="69081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601911"/>
                </a:lnTo>
                <a:arcTo hR="88900" wR="12700" stAng="10800000" swAng="-5400000"/>
                <a:close/>
              </a:path>
            </a:pathLst>
          </a:custGeom>
          <a:solidFill>
            <a:srgbClr val="C2335A"/>
          </a:solidFill>
          <a:ln/>
        </p:spPr>
      </p:sp>
      <p:sp>
        <p:nvSpPr>
          <p:cNvPr id="41" name="Text 39"/>
          <p:cNvSpPr/>
          <p:nvPr/>
        </p:nvSpPr>
        <p:spPr>
          <a:xfrm>
            <a:off x="4614317" y="3859312"/>
            <a:ext cx="24834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C2335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926161" y="3845371"/>
            <a:ext cx="28800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Explainability and uncertainty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26161" y="4084092"/>
            <a:ext cx="259499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Heat maps and abstention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58634" y="3718371"/>
            <a:ext cx="3420566" cy="690811"/>
          </a:xfrm>
          <a:prstGeom prst="roundRect">
            <a:avLst>
              <a:gd name="adj" fmla="val 12869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8634" y="3718371"/>
            <a:ext cx="3420566" cy="690811"/>
          </a:xfrm>
          <a:custGeom>
            <a:avLst/>
            <a:gdLst/>
            <a:ahLst/>
            <a:cxnLst/>
            <a:rect l="l" t="t" r="r" b="b"/>
            <a:pathLst>
              <a:path w="3420566" h="690811">
                <a:moveTo>
                  <a:pt x="88900" y="690811"/>
                </a:moveTo>
                <a:lnTo>
                  <a:pt x="88900" y="69081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12700" stAng="16200000" swAng="-5400000"/>
                <a:lnTo>
                  <a:pt x="76200" y="601911"/>
                </a:lnTo>
                <a:arcTo hR="88900" wR="12700" stAng="10800000" swAng="-5400000"/>
                <a:close/>
              </a:path>
            </a:pathLst>
          </a:custGeom>
          <a:solidFill>
            <a:srgbClr val="C2335A"/>
          </a:solidFill>
          <a:ln/>
        </p:spPr>
      </p:sp>
      <p:sp>
        <p:nvSpPr>
          <p:cNvPr id="46" name="Text 44"/>
          <p:cNvSpPr/>
          <p:nvPr/>
        </p:nvSpPr>
        <p:spPr>
          <a:xfrm>
            <a:off x="8187234" y="3859312"/>
            <a:ext cx="24010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C2335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8490843" y="3845371"/>
            <a:ext cx="2608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Interactive demonstration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490843" y="4084092"/>
            <a:ext cx="223884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Upload, predict, explain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2800" y="466318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Colour groups: data · preprocessing · model · evaluation · explain and demo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pretrained backbones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3386634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3386634" cy="1696541"/>
          </a:xfrm>
          <a:custGeom>
            <a:avLst/>
            <a:gdLst/>
            <a:ahLst/>
            <a:cxnLst/>
            <a:rect l="l" t="t" r="r" b="b"/>
            <a:pathLst>
              <a:path w="3386634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0E9C8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DenseNet121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20590"/>
            <a:ext cx="3069641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Dense connectivity: each layer reuses all earlier feature maps, keeping texture detail available. About 8 M parameters, 1024 features, 224 × 224 native input.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2634" y="1818630"/>
            <a:ext cx="3386683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34" y="1818630"/>
            <a:ext cx="3386683" cy="1696541"/>
          </a:xfrm>
          <a:custGeom>
            <a:avLst/>
            <a:gdLst/>
            <a:ahLst/>
            <a:cxnLst/>
            <a:rect l="l" t="t" r="r" b="b"/>
            <a:pathLst>
              <a:path w="3386683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83" y="0"/>
                </a:lnTo>
                <a:arcTo hR="127000" wR="127000" stAng="16200000" swAng="5400000"/>
                <a:lnTo>
                  <a:pt x="3386683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10" name="Text 8"/>
          <p:cNvSpPr/>
          <p:nvPr/>
        </p:nvSpPr>
        <p:spPr>
          <a:xfrm>
            <a:off x="4605834" y="2085330"/>
            <a:ext cx="30696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EfficientNet-B3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5834" y="2420590"/>
            <a:ext cx="306969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inverted-bottleneck blocks with squeeze-and-excitation and compound scaling. About 12 M parameters, 1536 features, 300 × 300 native input.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2517" y="1818630"/>
            <a:ext cx="3386683" cy="1696541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517" y="1818630"/>
            <a:ext cx="3386683" cy="1696541"/>
          </a:xfrm>
          <a:custGeom>
            <a:avLst/>
            <a:gdLst/>
            <a:ahLst/>
            <a:cxnLst/>
            <a:rect l="l" t="t" r="r" b="b"/>
            <a:pathLst>
              <a:path w="3386683" h="16965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83" y="0"/>
                </a:lnTo>
                <a:arcTo hR="127000" wR="127000" stAng="16200000" swAng="5400000"/>
                <a:lnTo>
                  <a:pt x="3386683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7B4FD0"/>
          </a:solidFill>
          <a:ln/>
        </p:spPr>
      </p:sp>
      <p:sp>
        <p:nvSpPr>
          <p:cNvPr id="14" name="Text 12"/>
          <p:cNvSpPr/>
          <p:nvPr/>
        </p:nvSpPr>
        <p:spPr>
          <a:xfrm>
            <a:off x="8195717" y="2085330"/>
            <a:ext cx="30696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ResNet50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95717" y="2420590"/>
            <a:ext cx="306969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Residual skip connections around bottleneck blocks give stable deep training. About 25.6 M parameters, 2048 features, 224 × 224 native input.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769171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7C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three start from ImageNet weights, use a 300 × 300 input and share one training and evaluation protocol, so differences come from the architecture.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Two-stage transfer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6187430" cy="1250851"/>
          </a:xfrm>
          <a:prstGeom prst="roundRect">
            <a:avLst>
              <a:gd name="adj" fmla="val 1015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6187430" cy="1250851"/>
          </a:xfrm>
          <a:custGeom>
            <a:avLst/>
            <a:gdLst/>
            <a:ahLst/>
            <a:cxnLst/>
            <a:rect l="l" t="t" r="r" b="b"/>
            <a:pathLst>
              <a:path w="6187430" h="125085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6060430" y="0"/>
                </a:lnTo>
                <a:arcTo hR="127000" wR="127000" stAng="16200000" swAng="5400000"/>
                <a:lnTo>
                  <a:pt x="618743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E0962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595446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Stage 1: head warm-up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20590"/>
            <a:ext cx="595446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Freeze the pretrained backbone and train only the new three-way head, protecting learned features from large early gradients.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3196481"/>
            <a:ext cx="6187430" cy="1250851"/>
          </a:xfrm>
          <a:prstGeom prst="roundRect">
            <a:avLst>
              <a:gd name="adj" fmla="val 1015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3196481"/>
            <a:ext cx="6187430" cy="1250851"/>
          </a:xfrm>
          <a:custGeom>
            <a:avLst/>
            <a:gdLst/>
            <a:ahLst/>
            <a:cxnLst/>
            <a:rect l="l" t="t" r="r" b="b"/>
            <a:pathLst>
              <a:path w="6187430" h="125085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6060430" y="0"/>
                </a:lnTo>
                <a:arcTo hR="127000" wR="127000" stAng="16200000" swAng="5400000"/>
                <a:lnTo>
                  <a:pt x="618743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0E9C8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463181"/>
            <a:ext cx="595446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Stage 2: fine-tuning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16000" y="3798441"/>
            <a:ext cx="595446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Unfreeze and train at a lower learning rate. Early layers keep generic edges and textures; later layers adapt to radiographs.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4574332"/>
            <a:ext cx="6187430" cy="909290"/>
          </a:xfrm>
          <a:prstGeom prst="roundRect">
            <a:avLst>
              <a:gd name="adj" fmla="val 13967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4574332"/>
            <a:ext cx="6187430" cy="909290"/>
          </a:xfrm>
          <a:custGeom>
            <a:avLst/>
            <a:gdLst/>
            <a:ahLst/>
            <a:cxnLst/>
            <a:rect l="l" t="t" r="r" b="b"/>
            <a:pathLst>
              <a:path w="6187430" h="90929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6060430" y="0"/>
                </a:lnTo>
                <a:arcTo hR="127000" wR="127000" stAng="16200000" swAng="5400000"/>
                <a:lnTo>
                  <a:pt x="618743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815632"/>
            <a:ext cx="35542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Class-weighted loss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6000" y="5074692"/>
            <a:ext cx="365387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Counters imbalance without duplicating images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9879" y="4865142"/>
            <a:ext cx="23303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i="1" dirty="0">
                <a:solidFill>
                  <a:srgbClr val="3CD7C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wc = N / (K · nc)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54230" y="1818630"/>
            <a:ext cx="3556000" cy="2997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</p:spPr>
      </p:sp>
      <p:pic>
        <p:nvPicPr>
          <p:cNvPr id="18" name="Image 0" descr="Two-stage transfer learning diagram">    </p:cNvPr>
          <p:cNvPicPr>
            <a:picLocks noChangeAspect="1"/>
          </p:cNvPicPr>
          <p:nvPr/>
        </p:nvPicPr>
        <p:blipFill>
          <a:blip r:embed="rId1"/>
          <a:srcRect l="-22" r="-22" t="0" b="0"/>
          <a:stretch/>
        </p:blipFill>
        <p:spPr>
          <a:xfrm>
            <a:off x="7254230" y="1818630"/>
            <a:ext cx="3556000" cy="2997200"/>
          </a:xfrm>
          <a:prstGeom prst="roundRect">
            <a:avLst>
              <a:gd name="adj" fmla="val 3390"/>
            </a:avLst>
          </a:prstGeom>
        </p:spPr>
      </p:pic>
      <p:sp>
        <p:nvSpPr>
          <p:cNvPr id="19" name="Text 16"/>
          <p:cNvSpPr/>
          <p:nvPr/>
        </p:nvSpPr>
        <p:spPr>
          <a:xfrm>
            <a:off x="7192356" y="4892030"/>
            <a:ext cx="42487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AdamW, early stopping on validation macro-F1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Explainable AI</a:t>
            </a:r>
            <a:endParaRPr lang="en-US" sz="3200" dirty="0"/>
          </a:p>
        </p:txBody>
      </p:sp>
      <p:pic>
        <p:nvPicPr>
          <p:cNvPr id="4" name="Image 0" descr="Original chest X-ray, illustrative">    </p:cNvPr>
          <p:cNvPicPr>
            <a:picLocks noChangeAspect="1"/>
          </p:cNvPicPr>
          <p:nvPr/>
        </p:nvPicPr>
        <p:blipFill>
          <a:blip r:embed="rId1"/>
          <a:srcRect l="0" r="0" t="66" b="66"/>
          <a:stretch/>
        </p:blipFill>
        <p:spPr>
          <a:xfrm>
            <a:off x="812800" y="1818630"/>
            <a:ext cx="3384550" cy="1663700"/>
          </a:xfrm>
          <a:prstGeom prst="roundRect">
            <a:avLst>
              <a:gd name="adj" fmla="val 6107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62000" y="3545830"/>
            <a:ext cx="348823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Original X-ray</a:t>
            </a:r>
            <a:endParaRPr lang="en-US" sz="1300" dirty="0"/>
          </a:p>
        </p:txBody>
      </p:sp>
      <p:pic>
        <p:nvPicPr>
          <p:cNvPr id="6" name="Image 1" descr="Grad-CAM heat map overlay, illustrative">    </p:cNvPr>
          <p:cNvPicPr>
            <a:picLocks noChangeAspect="1"/>
          </p:cNvPicPr>
          <p:nvPr/>
        </p:nvPicPr>
        <p:blipFill>
          <a:blip r:embed="rId2"/>
          <a:srcRect l="0" r="0" t="66" b="66"/>
          <a:stretch/>
        </p:blipFill>
        <p:spPr>
          <a:xfrm>
            <a:off x="4402634" y="1818630"/>
            <a:ext cx="3384550" cy="1663700"/>
          </a:xfrm>
          <a:prstGeom prst="roundRect">
            <a:avLst>
              <a:gd name="adj" fmla="val 6107"/>
            </a:avLst>
          </a:prstGeom>
        </p:spPr>
      </p:pic>
      <p:sp>
        <p:nvSpPr>
          <p:cNvPr id="7" name="Text 3"/>
          <p:cNvSpPr/>
          <p:nvPr/>
        </p:nvSpPr>
        <p:spPr>
          <a:xfrm>
            <a:off x="4351833" y="3545830"/>
            <a:ext cx="34882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Grad-CAM overlay</a:t>
            </a:r>
            <a:endParaRPr lang="en-US" sz="1300" dirty="0"/>
          </a:p>
        </p:txBody>
      </p:sp>
      <p:pic>
        <p:nvPicPr>
          <p:cNvPr id="8" name="Image 2" descr="Integrated Gradients attribution, illustrative">    </p:cNvPr>
          <p:cNvPicPr>
            <a:picLocks noChangeAspect="1"/>
          </p:cNvPicPr>
          <p:nvPr/>
        </p:nvPicPr>
        <p:blipFill>
          <a:blip r:embed="rId3"/>
          <a:srcRect l="0" r="0" t="66" b="66"/>
          <a:stretch/>
        </p:blipFill>
        <p:spPr>
          <a:xfrm>
            <a:off x="7992517" y="1818630"/>
            <a:ext cx="3384550" cy="1663700"/>
          </a:xfrm>
          <a:prstGeom prst="roundRect">
            <a:avLst>
              <a:gd name="adj" fmla="val 6107"/>
            </a:avLst>
          </a:prstGeom>
        </p:spPr>
      </p:pic>
      <p:sp>
        <p:nvSpPr>
          <p:cNvPr id="9" name="Text 4"/>
          <p:cNvSpPr/>
          <p:nvPr/>
        </p:nvSpPr>
        <p:spPr>
          <a:xfrm>
            <a:off x="7941717" y="3545830"/>
            <a:ext cx="34882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Integrated Gradients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12800" y="401444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Grad-CAM</a:t>
            </a: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gives coarse regions from the last convolutional layer; </a:t>
            </a: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Integrated Gradients</a:t>
            </a: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gives pixel-level attribution. Sanity checks: weight randomisation, lung-region overlap, deletion curves and method agreement.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12800" y="476622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33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Illustrative visualizations. Highlighted regions do not prove the model’s reasoning.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6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Uncertainty-aware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15951"/>
            <a:ext cx="2151906" cy="1562844"/>
          </a:xfrm>
          <a:prstGeom prst="roundRect">
            <a:avLst>
              <a:gd name="adj" fmla="val 7314"/>
            </a:avLst>
          </a:prstGeom>
          <a:solidFill>
            <a:srgbClr val="3B6FD4"/>
          </a:solidFill>
          <a:ln/>
        </p:spPr>
        <p:txBody>
          <a:bodyPr wrap="square" lIns="106223" tIns="106223" rIns="106223" bIns="106223" rtlCol="0" anchor="ctr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 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66306" y="2348458"/>
            <a:ext cx="42672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0E7C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23506" y="1815951"/>
            <a:ext cx="2151906" cy="1562844"/>
          </a:xfrm>
          <a:prstGeom prst="roundRect">
            <a:avLst>
              <a:gd name="adj" fmla="val 7314"/>
            </a:avLst>
          </a:prstGeom>
          <a:solidFill>
            <a:srgbClr val="0E9C8A"/>
          </a:solidFill>
          <a:ln/>
        </p:spPr>
        <p:txBody>
          <a:bodyPr wrap="square" lIns="78135" tIns="106223" rIns="78135" bIns="106223" rtlCol="0" anchor="ctr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Calibrated confidence p (temperature scaling)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77012" y="2348458"/>
            <a:ext cx="42672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0E7C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34212" y="1815951"/>
            <a:ext cx="2151906" cy="1562844"/>
          </a:xfrm>
          <a:prstGeom prst="roundRect">
            <a:avLst>
              <a:gd name="adj" fmla="val 7314"/>
            </a:avLst>
          </a:prstGeom>
          <a:solidFill>
            <a:srgbClr val="E0962B"/>
          </a:solidFill>
          <a:ln/>
        </p:spPr>
        <p:txBody>
          <a:bodyPr wrap="square" lIns="106223" tIns="106223" rIns="106223" bIns="106223" rtlCol="0" anchor="ctr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 ≥ τ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87718" y="2348458"/>
            <a:ext cx="42672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0E7C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944918" y="1815951"/>
            <a:ext cx="2434282" cy="711597"/>
          </a:xfrm>
          <a:prstGeom prst="roundRect">
            <a:avLst>
              <a:gd name="adj" fmla="val 16062"/>
            </a:avLst>
          </a:prstGeom>
          <a:solidFill>
            <a:srgbClr val="1E8449"/>
          </a:solidFill>
          <a:ln/>
        </p:spPr>
        <p:txBody>
          <a:bodyPr wrap="square" lIns="60818" tIns="93523" rIns="60818" bIns="68123" rtlCol="0" anchor="t">
            <a:normAutofit/>
          </a:bodyPr>
          <a:lstStyle/>
          <a:p>
            <a:pPr algn="ctr" indent="0" marL="0">
              <a:lnSpc>
                <a:spcPts val="1809"/>
              </a:lnSpc>
              <a:buNone/>
            </a:pPr>
            <a:r>
              <a:rPr lang="en-US" sz="1292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 prediction + heat map</a:t>
            </a:r>
            <a:endParaRPr lang="en-US" sz="1292" dirty="0"/>
          </a:p>
        </p:txBody>
      </p:sp>
      <p:sp>
        <p:nvSpPr>
          <p:cNvPr id="11" name="Text 9"/>
          <p:cNvSpPr/>
          <p:nvPr/>
        </p:nvSpPr>
        <p:spPr>
          <a:xfrm>
            <a:off x="8957618" y="2629148"/>
            <a:ext cx="2408882" cy="736947"/>
          </a:xfrm>
          <a:prstGeom prst="roundRect">
            <a:avLst>
              <a:gd name="adj" fmla="val 13787"/>
            </a:avLst>
          </a:prstGeom>
          <a:solidFill>
            <a:srgbClr val="FFFFFF"/>
          </a:solidFill>
          <a:ln w="25400">
            <a:solidFill>
              <a:srgbClr val="E0962B"/>
            </a:solidFill>
            <a:prstDash val="solid"/>
          </a:ln>
        </p:spPr>
        <p:txBody>
          <a:bodyPr wrap="square" lIns="78000" tIns="109942" rIns="78000" bIns="84542" rtlCol="0" anchor="t">
            <a:normAutofit/>
          </a:bodyPr>
          <a:lstStyle/>
          <a:p>
            <a:pPr algn="ctr" indent="0" marL="0">
              <a:lnSpc>
                <a:spcPts val="1809"/>
              </a:lnSpc>
              <a:buNone/>
            </a:pPr>
            <a:r>
              <a:rPr lang="en-US" sz="1292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“Uncertain — Expert Review Required”</a:t>
            </a:r>
            <a:endParaRPr lang="en-US" sz="1292" dirty="0"/>
          </a:p>
        </p:txBody>
      </p:sp>
      <p:sp>
        <p:nvSpPr>
          <p:cNvPr id="12" name="Text 10"/>
          <p:cNvSpPr/>
          <p:nvPr/>
        </p:nvSpPr>
        <p:spPr>
          <a:xfrm>
            <a:off x="812800" y="3632795"/>
            <a:ext cx="637305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Temperature scaling</a:t>
            </a: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divides logits by one scalar T fitted on validation data. It softens over-confident scores and leaves accuracy unchanged.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244876"/>
            <a:ext cx="6373053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Threshold τ</a:t>
            </a:r>
            <a:r>
              <a:rPr lang="en-US" sz="14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is chosen on validation data only, then coverage and selective accuracy are reported. Abstention is a research safeguard, not a guarantee of clinical safety.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54230" y="3632795"/>
            <a:ext cx="2717800" cy="22225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pic>
        <p:nvPicPr>
          <p:cNvPr id="15" name="Image 0" descr="Schematic reliability diagram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7254230" y="3632795"/>
            <a:ext cx="2717800" cy="2222500"/>
          </a:xfrm>
          <a:prstGeom prst="roundRect">
            <a:avLst>
              <a:gd name="adj" fmla="val 4571"/>
            </a:avLst>
          </a:prstGeom>
        </p:spPr>
      </p:pic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Evaluation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2489200" cy="1919387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2489200" cy="1919387"/>
          </a:xfrm>
          <a:custGeom>
            <a:avLst/>
            <a:gdLst/>
            <a:ahLst/>
            <a:cxnLst/>
            <a:rect l="l" t="t" r="r" b="b"/>
            <a:pathLst>
              <a:path w="2489200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3B6FD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Accuracy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20590"/>
            <a:ext cx="2145284" cy="1139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Macro-F1 and per-class recall, confusion matrix, one-vs-rest ROC-AUC, COVID-19 sensitivity and specificity.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5200" y="1818630"/>
            <a:ext cx="2489200" cy="1919387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05200" y="1818630"/>
            <a:ext cx="2489200" cy="1919387"/>
          </a:xfrm>
          <a:custGeom>
            <a:avLst/>
            <a:gdLst/>
            <a:ahLst/>
            <a:cxnLst/>
            <a:rect l="l" t="t" r="r" b="b"/>
            <a:pathLst>
              <a:path w="2489200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0E9C8A"/>
          </a:solidFill>
          <a:ln/>
        </p:spPr>
      </p:sp>
      <p:sp>
        <p:nvSpPr>
          <p:cNvPr id="10" name="Text 8"/>
          <p:cNvSpPr/>
          <p:nvPr/>
        </p:nvSpPr>
        <p:spPr>
          <a:xfrm>
            <a:off x="37084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Calibration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8400" y="2420590"/>
            <a:ext cx="2145284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ECE and Brier score with reliability diagrams, before and after temperature scaling.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7600" y="1818630"/>
            <a:ext cx="2489200" cy="1919387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7600" y="1818630"/>
            <a:ext cx="2489200" cy="1919387"/>
          </a:xfrm>
          <a:custGeom>
            <a:avLst/>
            <a:gdLst/>
            <a:ahLst/>
            <a:cxnLst/>
            <a:rect l="l" t="t" r="r" b="b"/>
            <a:pathLst>
              <a:path w="2489200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E096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Robustness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420590"/>
            <a:ext cx="2145284" cy="1139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Noise, blur, contrast, JPEG and rotation at five severities, plus lung-masking and cross-source tests.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90000" y="1818630"/>
            <a:ext cx="2489200" cy="1919387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90000" y="1818630"/>
            <a:ext cx="2489200" cy="1919387"/>
          </a:xfrm>
          <a:custGeom>
            <a:avLst/>
            <a:gdLst/>
            <a:ahLst/>
            <a:cxnLst/>
            <a:rect l="l" t="t" r="r" b="b"/>
            <a:pathLst>
              <a:path w="2489200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362200" y="0"/>
                </a:lnTo>
                <a:arcTo hR="127000" wR="127000" stAng="16200000" swAng="5400000"/>
                <a:lnTo>
                  <a:pt x="2489200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C2335A"/>
          </a:solidFill>
          <a:ln/>
        </p:spPr>
      </p:sp>
      <p:sp>
        <p:nvSpPr>
          <p:cNvPr id="18" name="Text 16"/>
          <p:cNvSpPr/>
          <p:nvPr/>
        </p:nvSpPr>
        <p:spPr>
          <a:xfrm>
            <a:off x="9093200" y="2085330"/>
            <a:ext cx="21452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Deployment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93200" y="2420590"/>
            <a:ext cx="214528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3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Inference latency and abstention coverage versus accuracy for the demo.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992612"/>
            <a:ext cx="2855764" cy="4445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only · results pending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6364" y="3992017"/>
            <a:ext cx="775882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Bootstrap intervals, repeated seeds and paired tests so that only differences beyond run-to-run variation are called meaningful.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609600" cy="508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1176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Limitations, ethics and outlook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630"/>
            <a:ext cx="3386634" cy="1919387"/>
          </a:xfrm>
          <a:prstGeom prst="roundRect">
            <a:avLst>
              <a:gd name="adj" fmla="val 6617"/>
            </a:avLst>
          </a:prstGeom>
          <a:solidFill>
            <a:srgbClr val="12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8630"/>
            <a:ext cx="3386634" cy="1919387"/>
          </a:xfrm>
          <a:custGeom>
            <a:avLst/>
            <a:gdLst/>
            <a:ahLst/>
            <a:cxnLst/>
            <a:rect l="l" t="t" r="r" b="b"/>
            <a:pathLst>
              <a:path w="3386634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85330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420590"/>
            <a:ext cx="3069641" cy="1139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quality and representativeness may limit generalisation. Leakage and acquisition artefacts must be investigated. External clinical validation is still required.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2634" y="1818630"/>
            <a:ext cx="3386683" cy="1919387"/>
          </a:xfrm>
          <a:prstGeom prst="roundRect">
            <a:avLst>
              <a:gd name="adj" fmla="val 6617"/>
            </a:avLst>
          </a:prstGeom>
          <a:solidFill>
            <a:srgbClr val="12294A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34" y="1818630"/>
            <a:ext cx="3386683" cy="1919387"/>
          </a:xfrm>
          <a:custGeom>
            <a:avLst/>
            <a:gdLst/>
            <a:ahLst/>
            <a:cxnLst/>
            <a:rect l="l" t="t" r="r" b="b"/>
            <a:pathLst>
              <a:path w="3386683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83" y="0"/>
                </a:lnTo>
                <a:arcTo hR="127000" wR="127000" stAng="16200000" swAng="5400000"/>
                <a:lnTo>
                  <a:pt x="3386683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4605834" y="2085330"/>
            <a:ext cx="30696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Ethics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5834" y="2420590"/>
            <a:ext cx="306969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public, de-identified images. COVID-19 sensitivity and specificity are reported separately, and the system abstains rather than guesses.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2517" y="1818630"/>
            <a:ext cx="3386683" cy="1919387"/>
          </a:xfrm>
          <a:prstGeom prst="roundRect">
            <a:avLst>
              <a:gd name="adj" fmla="val 6617"/>
            </a:avLst>
          </a:prstGeom>
          <a:solidFill>
            <a:srgbClr val="122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517" y="1818630"/>
            <a:ext cx="3386683" cy="1919387"/>
          </a:xfrm>
          <a:custGeom>
            <a:avLst/>
            <a:gdLst/>
            <a:ahLst/>
            <a:cxnLst/>
            <a:rect l="l" t="t" r="r" b="b"/>
            <a:pathLst>
              <a:path w="3386683" h="191938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83" y="0"/>
                </a:lnTo>
                <a:arcTo hR="127000" wR="127000" stAng="16200000" swAng="5400000"/>
                <a:lnTo>
                  <a:pt x="3386683" y="127000"/>
                </a:lnTo>
                <a:arcTo hR="63500" wR="127000" stAng="0" swAng="-5400000"/>
                <a:lnTo>
                  <a:pt x="127000" y="63500"/>
                </a:lnTo>
                <a:arcTo hR="63500" wR="127000" stAng="16200000" swAng="-5400000"/>
                <a:close/>
              </a:path>
            </a:pathLst>
          </a:cu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195717" y="2085330"/>
            <a:ext cx="30696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6F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Next steps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95717" y="2420590"/>
            <a:ext cx="306969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the experiments and fill the results table, test on unseen sources, add conformal abstention and expert review of explanations.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992017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i="1" dirty="0">
                <a:solidFill>
                  <a:srgbClr val="3CD7C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research prototype, not a diagnostic device.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Explainable COVID-19 Detection from Chest X-Ray Images · 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lainable COVID-19 Detection from Chest X-Ray Images">
  <a:themeElements>
    <a:clrScheme name="Explainable COVID-19 Detection from Chest X-Ray Images">
      <a:dk1>
        <a:srgbClr val="0B1F3A"/>
      </a:dk1>
      <a:lt1>
        <a:srgbClr val="EEF2F8"/>
      </a:lt1>
      <a:dk2>
        <a:srgbClr val="44546A"/>
      </a:dk2>
      <a:lt2>
        <a:srgbClr val="D7DDE5"/>
      </a:lt2>
      <a:accent1>
        <a:srgbClr val="5B6B82"/>
      </a:accent1>
      <a:accent2>
        <a:srgbClr val="F2B134"/>
      </a:accent2>
      <a:accent3>
        <a:srgbClr val="0E7C7B"/>
      </a:accent3>
      <a:accent4>
        <a:srgbClr val="3B6FD4"/>
      </a:accent4>
      <a:accent5>
        <a:srgbClr val="3CD7C8"/>
      </a:accent5>
      <a:accent6>
        <a:srgbClr val="C2335A"/>
      </a:accent6>
      <a:hlink>
        <a:srgbClr val="0563C1"/>
      </a:hlink>
      <a:folHlink>
        <a:srgbClr val="954F72"/>
      </a:folHlink>
    </a:clrScheme>
    <a:fontScheme name="Explainable COVID-19 Detection from Chest X-Ray Image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COVID-19 Detection from Chest X-Ray Images</dc:title>
  <dc:subject/>
  <dc:creator/>
  <cp:lastModifiedBy/>
  <cp:revision>1</cp:revision>
  <dcterms:created xsi:type="dcterms:W3CDTF">2026-10-25T18:16:17Z</dcterms:created>
  <dcterms:modified xsi:type="dcterms:W3CDTF">2026-10-25T18:16:17Z</dcterms:modified>
</cp:coreProperties>
</file>